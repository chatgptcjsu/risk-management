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1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F85E5E"/>
    <a:srgbClr val="FDBFBF"/>
    <a:srgbClr val="FFF3F4"/>
    <a:srgbClr val="FFE0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55" autoAdjust="0"/>
    <p:restoredTop sz="94660"/>
  </p:normalViewPr>
  <p:slideViewPr>
    <p:cSldViewPr snapToGrid="0">
      <p:cViewPr varScale="1">
        <p:scale>
          <a:sx n="67" d="100"/>
          <a:sy n="67" d="100"/>
        </p:scale>
        <p:origin x="111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201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6203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821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41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252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0064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024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69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988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228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092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43433-4319-488C-AA5E-584344BB845D}" type="datetimeFigureOut">
              <a:rPr lang="ko-KR" altLang="en-US" smtClean="0"/>
              <a:t>2025-05-20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4B0C5-4D45-4C75-9553-117E7DAC46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518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/>
          </p:nvPr>
        </p:nvGraphicFramePr>
        <p:xfrm>
          <a:off x="-1" y="929628"/>
          <a:ext cx="9143998" cy="5756921"/>
        </p:xfrm>
        <a:graphic>
          <a:graphicData uri="http://schemas.openxmlformats.org/drawingml/2006/table">
            <a:tbl>
              <a:tblPr/>
              <a:tblGrid>
                <a:gridCol w="157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4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5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95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0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70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45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124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88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6769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45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3543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위험요인</a:t>
                      </a:r>
                      <a:r>
                        <a:rPr lang="ko-KR" altLang="en-US" sz="1200" b="1" i="0" u="none" strike="noStrike" baseline="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및 재해형태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개선</a:t>
                      </a:r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예방</a:t>
                      </a:r>
                      <a:r>
                        <a:rPr lang="en-US" altLang="ko-KR" sz="12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대책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171450" marR="0" indent="-17145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개선 전</a:t>
                      </a:r>
                      <a:r>
                        <a:rPr lang="en-US" altLang="ko-KR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후 위험성</a:t>
                      </a:r>
                      <a:r>
                        <a:rPr lang="en-US" altLang="ko-KR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리스크</a:t>
                      </a:r>
                      <a:r>
                        <a:rPr lang="en-US" altLang="ko-KR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 </a:t>
                      </a:r>
                      <a:r>
                        <a:rPr lang="ko-KR" altLang="en-US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평가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5436">
                <a:tc rowSpan="2" gridSpan="2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위험요인 기재</a:t>
                      </a:r>
                      <a:r>
                        <a:rPr kumimoji="0" lang="en-US" altLang="ko-KR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자세히</a:t>
                      </a:r>
                      <a:r>
                        <a:rPr kumimoji="0" lang="en-US" altLang="ko-KR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75000"/>
                            </a:schemeClr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44000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1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개선방안</a:t>
                      </a:r>
                      <a:r>
                        <a:rPr lang="en-US" altLang="ko-KR" sz="1200" b="1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1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자세히</a:t>
                      </a:r>
                      <a:r>
                        <a:rPr lang="en-US" altLang="ko-KR" sz="1200" b="1" kern="1200" baseline="0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j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14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ko-KR" altLang="en-US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위험성 평가 </a:t>
                      </a:r>
                      <a:r>
                        <a:rPr lang="ko-KR" altLang="en-US" sz="1200" b="1" i="0" u="none" strike="noStrike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개선전</a:t>
                      </a:r>
                      <a:r>
                        <a:rPr lang="en-US" altLang="ko-KR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     , </a:t>
                      </a:r>
                      <a:r>
                        <a:rPr lang="ko-KR" altLang="en-US" sz="1200" b="1" i="0" u="none" strike="noStrike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개선후</a:t>
                      </a:r>
                      <a:r>
                        <a:rPr lang="en-US" altLang="ko-KR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</a:t>
                      </a: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00">
                <a:tc gridSpan="2"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7398" marR="7398" marT="7398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빈도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강도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영향</a:t>
                      </a:r>
                      <a:endParaRPr lang="en-US" altLang="ko-KR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없음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경미한</a:t>
                      </a:r>
                      <a:endParaRPr lang="en-US" altLang="ko-KR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재해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경중한</a:t>
                      </a:r>
                      <a:endParaRPr lang="en-US" altLang="ko-KR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재해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중대</a:t>
                      </a:r>
                      <a:endParaRPr lang="en-US" altLang="ko-KR" sz="900" b="1" i="0" u="none" strike="noStrike" kern="1200" dirty="0" smtClean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재해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31">
                <a:tc rowSpan="3" gridSpan="2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44000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4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8228822"/>
                  </a:ext>
                </a:extLst>
              </a:tr>
              <a:tr h="235436">
                <a:tc gridSpan="2" vMerge="1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44000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3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4</a:t>
                      </a:r>
                      <a:endParaRPr lang="ko-KR" altLang="en-US" sz="900" b="1" i="0" u="none" strike="noStrike" kern="1200" dirty="0" smtClean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9908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거의없음</a:t>
                      </a:r>
                      <a:endParaRPr lang="en-US" altLang="ko-KR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431">
                <a:tc rowSpan="3" gridSpan="2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44000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4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461864"/>
                  </a:ext>
                </a:extLst>
              </a:tr>
              <a:tr h="235436">
                <a:tc gridSpan="2" vMerge="1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44000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낮음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673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398" marR="7398" marT="7398" marB="0" anchor="ctr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있음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3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3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9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4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12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431">
                <a:tc rowSpan="3" gridSpan="2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1200" b="1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44000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3" gridSpan="2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144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rowSpan="3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4221220"/>
                  </a:ext>
                </a:extLst>
              </a:tr>
              <a:tr h="235436">
                <a:tc gridSpan="2" vMerge="1">
                  <a:txBody>
                    <a:bodyPr/>
                    <a:lstStyle/>
                    <a:p>
                      <a:pPr marL="126000" marR="0" lvl="0" indent="-12600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200" b="1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144000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ko-KR" sz="1200" b="1" kern="1200" baseline="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8000" marR="36000" marT="36000" marB="36000" anchor="ctr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높음</a:t>
                      </a:r>
                    </a:p>
                  </a:txBody>
                  <a:tcPr marL="0" marR="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8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12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16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5436">
                <a:tc gridSpan="2"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7398" marR="7398" marT="7398" marB="0" anchor="ctr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빈번함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10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15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900" b="1" i="0" u="none" strike="noStrike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</a:t>
                      </a:r>
                      <a:endParaRPr lang="ko-KR" altLang="en-US" sz="900" b="1" i="0" u="none" strike="noStrike" kern="120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5436">
                <a:tc gridSpan="2">
                  <a:txBody>
                    <a:bodyPr/>
                    <a:lstStyle/>
                    <a:p>
                      <a:pPr marL="0" marR="0" indent="0" algn="ctr" defTabSz="9089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개선 전</a:t>
                      </a: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개선 후</a:t>
                      </a:r>
                      <a:endParaRPr lang="ko-KR" altLang="en-US" sz="1200" b="1" i="0" u="none" strike="noStrike" dirty="0">
                        <a:solidFill>
                          <a:srgbClr val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9">
                  <a:txBody>
                    <a:bodyPr/>
                    <a:lstStyle/>
                    <a:p>
                      <a:pPr marL="171450" marR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v"/>
                        <a:tabLst/>
                        <a:defRPr/>
                      </a:pPr>
                      <a:r>
                        <a:rPr lang="en-US" altLang="ko-KR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위험도 수준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0281">
                <a:tc rowSpan="7" gridSpan="2">
                  <a:txBody>
                    <a:bodyPr/>
                    <a:lstStyle/>
                    <a:p>
                      <a:pPr algn="ctr"/>
                      <a:r>
                        <a:rPr lang="ko-KR" altLang="en-US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사진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7" gridSpan="2">
                  <a:txBody>
                    <a:bodyPr/>
                    <a:lstStyle/>
                    <a:p>
                      <a:pPr algn="ctr"/>
                      <a:r>
                        <a:rPr lang="ko-KR" altLang="en-US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사진</a:t>
                      </a:r>
                      <a:endParaRPr lang="ko-KR" altLang="en-US" dirty="0">
                        <a:solidFill>
                          <a:schemeClr val="bg1">
                            <a:lumMod val="75000"/>
                          </a:schemeClr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8000" marR="36000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5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등급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5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위험도 수준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100" b="1" i="0" u="none" strike="noStrike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5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위험도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0281">
                <a:tc gridSpan="2"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1~3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무시할 수 </a:t>
                      </a:r>
                      <a:r>
                        <a:rPr lang="ko-KR" altLang="en-US" sz="1000" b="1" i="0" u="none" strike="noStrike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있는위험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40281">
                <a:tc gridSpan="2"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Font typeface="Arial" panose="020B0604020202020204" pitchFamily="34" charset="0"/>
                        <a:buNone/>
                      </a:pPr>
                      <a:endParaRPr lang="en-US" altLang="ko-KR" sz="1100" b="1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4~6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미미한 위험</a:t>
                      </a:r>
                      <a:endParaRPr lang="en-US" altLang="ko-KR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필요에 따라 개선</a:t>
                      </a: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089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028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3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8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경미한 위험</a:t>
                      </a:r>
                      <a:endParaRPr lang="en-US" altLang="ko-KR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계획적 개선</a:t>
                      </a: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분기</a:t>
                      </a: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40281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4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9~12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상당한 위험</a:t>
                      </a:r>
                      <a:endParaRPr lang="en-US" altLang="ko-KR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조건부 작업</a:t>
                      </a: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개선</a:t>
                      </a: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4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F4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3485"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15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중대한 위험</a:t>
                      </a:r>
                      <a:endParaRPr lang="en-US" altLang="ko-KR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조건부 작업</a:t>
                      </a: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000" b="1" i="0" u="none" strike="noStrike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신속개선</a:t>
                      </a: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BFB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24808">
                <a:tc gridSpan="2"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5E5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16~20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5E5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000" b="1" i="0" u="none" strike="noStrike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허용불가</a:t>
                      </a:r>
                      <a:r>
                        <a:rPr lang="ko-KR" altLang="en-US" sz="10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위험</a:t>
                      </a:r>
                      <a:endParaRPr lang="en-US" altLang="ko-KR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1" i="0" u="none" strike="noStrike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(</a:t>
                      </a:r>
                      <a:r>
                        <a:rPr lang="ko-KR" altLang="en-US" sz="1000" b="1" i="0" u="none" strike="noStrike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즉시 </a:t>
                      </a:r>
                      <a:r>
                        <a:rPr lang="ko-KR" altLang="en-US" sz="1000" b="1" i="0" u="none" strike="noStrike" kern="1200" baseline="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작업중지</a:t>
                      </a:r>
                      <a:r>
                        <a:rPr lang="en-US" altLang="ko-KR" sz="1000" b="1" i="0" u="none" strike="noStrike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)</a:t>
                      </a:r>
                      <a:endParaRPr lang="ko-KR" altLang="en-US" sz="10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5E5E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5E5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0699">
                <a:tc>
                  <a:txBody>
                    <a:bodyPr/>
                    <a:lstStyle/>
                    <a:p>
                      <a:pPr marL="0" marR="0" indent="0" algn="ctr" defTabSz="9089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 err="1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개선전</a:t>
                      </a:r>
                      <a:r>
                        <a:rPr lang="ko-KR" altLang="en-US" sz="1200" b="1" i="0" u="none" strike="noStrike" kern="1200" baseline="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1" i="0" u="none" strike="noStrike" kern="1200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위험등급</a:t>
                      </a: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5E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5E5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latin typeface="맑은 고딕" pitchFamily="50" charset="-127"/>
                          <a:ea typeface="맑은 고딕" pitchFamily="50" charset="-127"/>
                        </a:rPr>
                        <a:t>개선후</a:t>
                      </a:r>
                      <a:r>
                        <a:rPr lang="ko-KR" altLang="en-US" sz="1200" b="1" dirty="0" smtClean="0">
                          <a:latin typeface="맑은 고딕" pitchFamily="50" charset="-127"/>
                          <a:ea typeface="맑은 고딕" pitchFamily="50" charset="-127"/>
                        </a:rPr>
                        <a:t> 위험등급</a:t>
                      </a:r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18E"/>
                    </a:solidFill>
                  </a:tcPr>
                </a:tc>
                <a:tc rowSpan="2" gridSpan="9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 smtClean="0">
                          <a:solidFill>
                            <a:srgbClr val="FF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</a:t>
                      </a:r>
                      <a:r>
                        <a:rPr lang="ko-KR" altLang="en-US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비고 </a:t>
                      </a:r>
                      <a:r>
                        <a:rPr lang="en-US" altLang="ko-KR" sz="1200" b="1" i="0" u="none" strike="noStrike" kern="120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: </a:t>
                      </a:r>
                      <a:endParaRPr lang="ko-KR" altLang="en-US" sz="1200" b="1" i="0" u="none" strike="noStrike" kern="120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772664"/>
                  </a:ext>
                </a:extLst>
              </a:tr>
              <a:tr h="290699">
                <a:tc>
                  <a:txBody>
                    <a:bodyPr/>
                    <a:lstStyle/>
                    <a:p>
                      <a:pPr marL="0" marR="0" indent="0" algn="ctr" defTabSz="9089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개선 예정일</a:t>
                      </a: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‘23.03.01</a:t>
                      </a:r>
                      <a:endParaRPr lang="ko-KR" altLang="en-US" sz="12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김</a:t>
                      </a:r>
                      <a:r>
                        <a:rPr lang="en-US" altLang="ko-KR" sz="1200" b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00</a:t>
                      </a:r>
                      <a:endParaRPr lang="ko-KR" altLang="en-US" sz="12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9"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050" b="1" i="0" u="none" strike="noStrike" kern="1200" dirty="0" smtClean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882218"/>
                  </a:ext>
                </a:extLst>
              </a:tr>
              <a:tr h="290699">
                <a:tc>
                  <a:txBody>
                    <a:bodyPr/>
                    <a:lstStyle/>
                    <a:p>
                      <a:pPr marL="0" marR="0" indent="0" algn="ctr" defTabSz="908978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 err="1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위험성평가</a:t>
                      </a:r>
                      <a:r>
                        <a:rPr lang="ko-KR" altLang="en-US" sz="1200" b="1" i="0" u="none" strike="noStrike" kern="1200" dirty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참여자</a:t>
                      </a: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1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1200" b="1" dirty="0" err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해당공정</a:t>
                      </a:r>
                      <a:r>
                        <a:rPr lang="ko-KR" altLang="en-US" sz="1200" b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팀장</a:t>
                      </a:r>
                      <a:r>
                        <a:rPr lang="en-US" altLang="ko-KR" sz="1200" b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200" b="1" dirty="0" err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해당공정</a:t>
                      </a:r>
                      <a:r>
                        <a:rPr lang="ko-KR" altLang="en-US" sz="1200" b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200" b="1" dirty="0" err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관리감독자</a:t>
                      </a:r>
                      <a:r>
                        <a:rPr lang="en-US" altLang="ko-KR" sz="1200" b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200" b="1" dirty="0" err="1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해당공정</a:t>
                      </a:r>
                      <a:r>
                        <a:rPr lang="ko-KR" altLang="en-US" sz="1200" b="1" dirty="0" smtClea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근로자 참여 필수</a:t>
                      </a:r>
                      <a:endParaRPr lang="ko-KR" altLang="en-US" sz="1200" b="1" dirty="0">
                        <a:solidFill>
                          <a:schemeClr val="bg1">
                            <a:lumMod val="7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7398" marR="7398" marT="73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ko-KR" altLang="en-US" sz="1200" b="1" i="0" u="none" strike="noStrike" kern="1200" dirty="0" smtClean="0">
                        <a:solidFill>
                          <a:srgbClr val="FF0000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2042235"/>
                  </a:ext>
                </a:extLst>
              </a:tr>
            </a:tbl>
          </a:graphicData>
        </a:graphic>
      </p:graphicFrame>
      <p:sp>
        <p:nvSpPr>
          <p:cNvPr id="9" name="타원 8"/>
          <p:cNvSpPr/>
          <p:nvPr/>
        </p:nvSpPr>
        <p:spPr>
          <a:xfrm>
            <a:off x="7991122" y="2002018"/>
            <a:ext cx="162000" cy="162000"/>
          </a:xfrm>
          <a:prstGeom prst="ellipse">
            <a:avLst/>
          </a:prstGeom>
          <a:noFill/>
          <a:ln w="254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59977" y="561674"/>
            <a:ext cx="9033767" cy="325693"/>
            <a:chOff x="59977" y="637874"/>
            <a:chExt cx="9033767" cy="325693"/>
          </a:xfrm>
        </p:grpSpPr>
        <p:sp>
          <p:nvSpPr>
            <p:cNvPr id="11" name="오각형 10"/>
            <p:cNvSpPr/>
            <p:nvPr/>
          </p:nvSpPr>
          <p:spPr>
            <a:xfrm>
              <a:off x="59977" y="637874"/>
              <a:ext cx="882000" cy="324000"/>
            </a:xfrm>
            <a:prstGeom prst="homePlate">
              <a:avLst>
                <a:gd name="adj" fmla="val 13701"/>
              </a:avLst>
            </a:prstGeom>
            <a:solidFill>
              <a:srgbClr val="FFFF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lIns="0" tIns="0" rIns="0" bIns="0" rtlCol="0" anchor="ctr"/>
            <a:lstStyle/>
            <a:p>
              <a:pPr algn="ctr">
                <a:defRPr/>
              </a:pPr>
              <a:r>
                <a:rPr lang="ko-KR" altLang="en-US" sz="1000" b="1" dirty="0" err="1" smtClean="0">
                  <a:solidFill>
                    <a:schemeClr val="bg1">
                      <a:lumMod val="75000"/>
                    </a:schemeClr>
                  </a:solidFill>
                  <a:latin typeface="+mn-ea"/>
                </a:rPr>
                <a:t>공정명</a:t>
              </a:r>
              <a:endParaRPr lang="en-US" altLang="ko-KR" sz="1000" b="1" dirty="0" smtClean="0">
                <a:solidFill>
                  <a:schemeClr val="bg1">
                    <a:lumMod val="75000"/>
                  </a:schemeClr>
                </a:solidFill>
                <a:latin typeface="+mn-ea"/>
              </a:endParaRPr>
            </a:p>
          </p:txBody>
        </p:sp>
        <p:sp>
          <p:nvSpPr>
            <p:cNvPr id="12" name="오각형 11"/>
            <p:cNvSpPr/>
            <p:nvPr/>
          </p:nvSpPr>
          <p:spPr>
            <a:xfrm>
              <a:off x="7295943" y="637874"/>
              <a:ext cx="882000" cy="324000"/>
            </a:xfrm>
            <a:prstGeom prst="homePlate">
              <a:avLst>
                <a:gd name="adj" fmla="val 13701"/>
              </a:avLst>
            </a:prstGeom>
            <a:noFill/>
            <a:ln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오각형 12"/>
            <p:cNvSpPr/>
            <p:nvPr/>
          </p:nvSpPr>
          <p:spPr>
            <a:xfrm>
              <a:off x="8211744" y="637874"/>
              <a:ext cx="882000" cy="324000"/>
            </a:xfrm>
            <a:prstGeom prst="homePlate">
              <a:avLst>
                <a:gd name="adj" fmla="val 13701"/>
              </a:avLst>
            </a:prstGeom>
            <a:noFill/>
            <a:ln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오각형 13"/>
            <p:cNvSpPr/>
            <p:nvPr/>
          </p:nvSpPr>
          <p:spPr>
            <a:xfrm>
              <a:off x="3675374" y="637874"/>
              <a:ext cx="882000" cy="324000"/>
            </a:xfrm>
            <a:prstGeom prst="homePlate">
              <a:avLst>
                <a:gd name="adj" fmla="val 13701"/>
              </a:avLst>
            </a:prstGeom>
            <a:noFill/>
            <a:ln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" name="오각형 14"/>
            <p:cNvSpPr/>
            <p:nvPr/>
          </p:nvSpPr>
          <p:spPr>
            <a:xfrm>
              <a:off x="4582671" y="637874"/>
              <a:ext cx="882000" cy="324000"/>
            </a:xfrm>
            <a:prstGeom prst="homePlate">
              <a:avLst>
                <a:gd name="adj" fmla="val 13701"/>
              </a:avLst>
            </a:prstGeom>
            <a:solidFill>
              <a:schemeClr val="bg1"/>
            </a:solidFill>
            <a:ln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오각형 15"/>
            <p:cNvSpPr/>
            <p:nvPr/>
          </p:nvSpPr>
          <p:spPr>
            <a:xfrm>
              <a:off x="5483525" y="637874"/>
              <a:ext cx="882000" cy="324000"/>
            </a:xfrm>
            <a:prstGeom prst="homePlate">
              <a:avLst>
                <a:gd name="adj" fmla="val 13701"/>
              </a:avLst>
            </a:prstGeom>
            <a:solidFill>
              <a:schemeClr val="bg1"/>
            </a:solidFill>
            <a:ln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7" name="오각형 16"/>
            <p:cNvSpPr/>
            <p:nvPr/>
          </p:nvSpPr>
          <p:spPr>
            <a:xfrm>
              <a:off x="2776076" y="637874"/>
              <a:ext cx="882000" cy="324000"/>
            </a:xfrm>
            <a:prstGeom prst="homePlate">
              <a:avLst>
                <a:gd name="adj" fmla="val 13701"/>
              </a:avLst>
            </a:prstGeom>
            <a:solidFill>
              <a:schemeClr val="bg1"/>
            </a:solidFill>
            <a:ln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8" name="오각형 17"/>
            <p:cNvSpPr/>
            <p:nvPr/>
          </p:nvSpPr>
          <p:spPr>
            <a:xfrm>
              <a:off x="1880373" y="637874"/>
              <a:ext cx="882000" cy="324000"/>
            </a:xfrm>
            <a:prstGeom prst="homePlate">
              <a:avLst>
                <a:gd name="adj" fmla="val 13701"/>
              </a:avLst>
            </a:prstGeom>
            <a:solidFill>
              <a:schemeClr val="bg1"/>
            </a:solidFill>
            <a:ln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9" name="오각형 18"/>
            <p:cNvSpPr/>
            <p:nvPr/>
          </p:nvSpPr>
          <p:spPr>
            <a:xfrm>
              <a:off x="972634" y="637874"/>
              <a:ext cx="882000" cy="324000"/>
            </a:xfrm>
            <a:prstGeom prst="homePlate">
              <a:avLst>
                <a:gd name="adj" fmla="val 13701"/>
              </a:avLst>
            </a:prstGeom>
            <a:solidFill>
              <a:schemeClr val="bg1"/>
            </a:solidFill>
            <a:ln>
              <a:solidFill>
                <a:schemeClr val="accent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n-US" altLang="ko-KR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0" name="오각형 19"/>
            <p:cNvSpPr/>
            <p:nvPr/>
          </p:nvSpPr>
          <p:spPr>
            <a:xfrm>
              <a:off x="6394893" y="639567"/>
              <a:ext cx="882000" cy="324000"/>
            </a:xfrm>
            <a:prstGeom prst="homePlate">
              <a:avLst>
                <a:gd name="adj" fmla="val 13701"/>
              </a:avLst>
            </a:prstGeom>
            <a:solidFill>
              <a:schemeClr val="bg1"/>
            </a:solidFill>
            <a:ln/>
            <a:effectLst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>
                <a:defRPr/>
              </a:pPr>
              <a:endParaRPr lang="en-US" altLang="ko-KR" sz="1000" b="1" dirty="0" smtClean="0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23" name="타원 22"/>
          <p:cNvSpPr/>
          <p:nvPr/>
        </p:nvSpPr>
        <p:spPr>
          <a:xfrm>
            <a:off x="8000647" y="2248199"/>
            <a:ext cx="162000" cy="16200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4" name="타원 23"/>
          <p:cNvSpPr/>
          <p:nvPr/>
        </p:nvSpPr>
        <p:spPr>
          <a:xfrm>
            <a:off x="7903386" y="1199605"/>
            <a:ext cx="162000" cy="162000"/>
          </a:xfrm>
          <a:prstGeom prst="ellipse">
            <a:avLst/>
          </a:prstGeom>
          <a:noFill/>
          <a:ln w="254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5" name="타원 24"/>
          <p:cNvSpPr/>
          <p:nvPr/>
        </p:nvSpPr>
        <p:spPr>
          <a:xfrm>
            <a:off x="8810953" y="1199605"/>
            <a:ext cx="162000" cy="162000"/>
          </a:xfrm>
          <a:prstGeom prst="ellipse">
            <a:avLst/>
          </a:prstGeom>
          <a:noFill/>
          <a:ln w="254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415360" y="4084441"/>
            <a:ext cx="2234630" cy="1064878"/>
          </a:xfrm>
          <a:prstGeom prst="roundRect">
            <a:avLst/>
          </a:prstGeom>
          <a:noFill/>
          <a:ln w="41275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모서리가 둥근 직사각형 17">
            <a:extLst>
              <a:ext uri="{FF2B5EF4-FFF2-40B4-BE49-F238E27FC236}">
                <a16:creationId xmlns:a16="http://schemas.microsoft.com/office/drawing/2014/main" id="{5062F9A0-103C-4681-BB09-4B863EE3935C}"/>
              </a:ext>
            </a:extLst>
          </p:cNvPr>
          <p:cNvSpPr/>
          <p:nvPr/>
        </p:nvSpPr>
        <p:spPr>
          <a:xfrm>
            <a:off x="4116374" y="3891735"/>
            <a:ext cx="1236665" cy="1257584"/>
          </a:xfrm>
          <a:prstGeom prst="roundRect">
            <a:avLst/>
          </a:prstGeom>
          <a:noFill/>
          <a:ln w="41275"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위쪽 화살표 1"/>
          <p:cNvSpPr/>
          <p:nvPr/>
        </p:nvSpPr>
        <p:spPr>
          <a:xfrm>
            <a:off x="8706215" y="3891735"/>
            <a:ext cx="295275" cy="489766"/>
          </a:xfrm>
          <a:prstGeom prst="upArrow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 Box 2"/>
          <p:cNvSpPr txBox="1">
            <a:spLocks noChangeArrowheads="1"/>
          </p:cNvSpPr>
          <p:nvPr/>
        </p:nvSpPr>
        <p:spPr bwMode="auto">
          <a:xfrm>
            <a:off x="5969479" y="133629"/>
            <a:ext cx="317451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n-US" altLang="ko-KR" sz="1400" b="1" dirty="0" smtClean="0">
                <a:latin typeface="+mn-ea"/>
              </a:rPr>
              <a:t>(</a:t>
            </a:r>
            <a:r>
              <a:rPr lang="ko-KR" altLang="en-US" sz="1400" b="1" dirty="0" smtClean="0">
                <a:latin typeface="+mn-ea"/>
              </a:rPr>
              <a:t>부서 </a:t>
            </a:r>
            <a:r>
              <a:rPr lang="en-US" altLang="ko-KR" sz="1400" b="1" dirty="0" smtClean="0">
                <a:latin typeface="+mn-ea"/>
              </a:rPr>
              <a:t>: </a:t>
            </a:r>
            <a:r>
              <a:rPr lang="ko-KR" altLang="en-US" sz="1400" b="1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부서명</a:t>
            </a:r>
            <a:r>
              <a:rPr lang="ko-KR" altLang="en-US" sz="1400" b="1" dirty="0" smtClean="0">
                <a:latin typeface="+mn-ea"/>
              </a:rPr>
              <a:t> </a:t>
            </a:r>
            <a:r>
              <a:rPr lang="en-US" altLang="ko-KR" sz="1400" b="1" dirty="0" smtClean="0">
                <a:latin typeface="+mn-ea"/>
              </a:rPr>
              <a:t>/ </a:t>
            </a:r>
            <a:r>
              <a:rPr lang="ko-KR" altLang="en-US" sz="1400" b="1" dirty="0" smtClean="0">
                <a:latin typeface="+mn-ea"/>
              </a:rPr>
              <a:t>평가일 </a:t>
            </a:r>
            <a:r>
              <a:rPr lang="en-US" altLang="ko-KR" sz="1400" b="1" smtClean="0">
                <a:latin typeface="+mn-ea"/>
              </a:rPr>
              <a:t>: </a:t>
            </a:r>
            <a:r>
              <a:rPr lang="en-US" altLang="ko-KR" sz="1400" b="1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2025.00.00</a:t>
            </a:r>
            <a:r>
              <a:rPr lang="en-US" altLang="ko-KR" sz="1400" b="1" dirty="0" smtClean="0">
                <a:latin typeface="+mn-ea"/>
              </a:rPr>
              <a:t>)</a:t>
            </a:r>
            <a:endParaRPr lang="ko-KR" altLang="en-US" sz="1400" b="1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6" name="Text Box 2"/>
          <p:cNvSpPr txBox="1">
            <a:spLocks noChangeArrowheads="1"/>
          </p:cNvSpPr>
          <p:nvPr/>
        </p:nvSpPr>
        <p:spPr bwMode="auto">
          <a:xfrm>
            <a:off x="-2080" y="73025"/>
            <a:ext cx="352051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v"/>
            </a:pPr>
            <a:r>
              <a:rPr lang="en-US" altLang="ko-KR" sz="2000" b="1" dirty="0" smtClean="0">
                <a:latin typeface="+mn-ea"/>
              </a:rPr>
              <a:t> </a:t>
            </a:r>
            <a:r>
              <a:rPr lang="ko-KR" altLang="en-US" sz="2000" b="1" dirty="0" smtClean="0">
                <a:latin typeface="+mn-ea"/>
              </a:rPr>
              <a:t>위험성 평가</a:t>
            </a:r>
            <a:r>
              <a:rPr lang="en-US" altLang="ko-KR" sz="2000" b="1" dirty="0" smtClean="0">
                <a:latin typeface="+mn-ea"/>
              </a:rPr>
              <a:t>(</a:t>
            </a:r>
            <a:r>
              <a:rPr lang="ko-KR" altLang="en-US" sz="2000" b="1" dirty="0" smtClean="0">
                <a:latin typeface="+mn-ea"/>
              </a:rPr>
              <a:t>개선 필요 건</a:t>
            </a:r>
            <a:r>
              <a:rPr lang="en-US" altLang="ko-KR" sz="2000" b="1" dirty="0" smtClean="0">
                <a:latin typeface="+mn-ea"/>
              </a:rPr>
              <a:t>)</a:t>
            </a:r>
            <a:endParaRPr lang="ko-KR" altLang="en-US" sz="2000" b="1" dirty="0">
              <a:solidFill>
                <a:srgbClr val="0000FF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8296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4116</TotalTime>
  <Words>205</Words>
  <Application>Microsoft Office PowerPoint</Application>
  <PresentationFormat>화면 슬라이드 쇼(4:3)</PresentationFormat>
  <Paragraphs>100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Wingdings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19</cp:revision>
  <dcterms:created xsi:type="dcterms:W3CDTF">2023-02-10T03:21:54Z</dcterms:created>
  <dcterms:modified xsi:type="dcterms:W3CDTF">2025-05-20T00:18:59Z</dcterms:modified>
</cp:coreProperties>
</file>